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Thank you for being here. My name is Tristian Walker. Today, we are talking about an invisible force that shapes almost every career.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a story. April 14, 1994. The Black Hawk Shootdown over Iraq. Two U.S. Black Hawk helicopters were shot down by friendly fire. Nobody made one catastrophic decision. There were dozens of small adjustments, tiny deviations, little accommodations.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Scott A. Snook calls this 'Practical Drift' — the 'slow, steady uncoupling of local practice from written procedure.' What happened in the skies over Iraq happens in conference rooms, cubicles, and corner offices every single day. Not with the same finality — but with the same quiet, devastating certainty.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did not arrive as a warning. It arrived as routine. Terrence traveled constantly, and his life became a sequence of early flights, rental counters, and hotel check-ins.</a:t>
            </a:r>
          </a:p>
          <a:p/>
          <a:p>
            <a:r>
              <a:t>In the private silence of hotel rooms, when the hallway noise faded and the television offered only shapes without sound, Terrence found himself drinking because he did not want to feel the sameness. Not sadness, exactly. The flatness that accumulates when your days have lost their edges.</a:t>
            </a:r>
          </a:p>
          <a:p/>
          <a:p>
            <a:r>
              <a:t>The line never looked like a boundary; it looked like normal. And Terrence never saw the moment he crossed it. He was moving, but no longer toward anything he had chosen.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Professional Drift is what happens when you are moving — but not toward anything you chose.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see three types of drift. Reactive Drift, the Success Trap, and Systemic Drift. Motion is when you are busy. Movement is when you are somewhere new at the end of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Moment] Ask the audience: Raise your hand if you've had the most productive week of your career and still felt like something was wrong.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5 signals of drift. The Shrinking Why, The Expertise Plateau, The Validation Loop, The Reactive Calendar, and The Identity Gap.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MOMENT]</a:t>
            </a:r>
          </a:p>
          <a:p>
            <a:r>
              <a:t>He had been in enough professional rooms to recognize the moment a name becomes a file number, the moment a person stops being seen and starts being processed. He tries to answer—to say 'I am here'—but his tongue feels enormous and useless, a foreign object lodged behind his teeth...</a:t>
            </a:r>
          </a:p>
          <a:p/>
          <a:p>
            <a:r>
              <a:t>What brought him here had not arrived without warning. It had arrived as habit, the way most things do... the quiet, terrifying distance between the man who leads and the man being breathed for by a machine.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yourself the Faststream diagnostic: Where will I be in 5 years if I keep doing exactly this? Am I being stretched or just busy?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Shift the narrative: Drift is not a character flaw. It is feedback from your life. The fact that you notice the drift means the part of you that knows where you're supposed to be is still awake.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the Destination Map with a Values Compass. Jen Green talks about Evolutionary Scope: Drift is dangerous when unconscious, but powerful when intentional.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Designing Your Life, Burnett &amp; Evans teach us to treat our careers like prototypes. Beware 'The Gravity Problem' — some forces you can't move, but you can navigate around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Living Forward's 7 Domains (Hyatt &amp; Harkavy): Career. Relationships. Health. Finances. Personal development. Spirituality. Recreation. The answer tells you where to start.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back to the opening. In 1994, it took multiple small drifts... But Snook also found: every single moment of drift had a preceding moment of awareness. A flicker. A hesitation. People knew, and then they adapted anyway.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'Quiet Line' is the decision to reclaim that flicker. It is the realization that drift does not feel like failure—that is what makes it dangerous... The path begins again the moment you decide to walk it. Leave with this: What would I be doing professionally if I trusted myself completely?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cxnSp>
        <p:nvCxnSpPr>
          <p:cNvPr id="2" name="Connector 1"/>
          <p:cNvCxnSpPr/>
          <p:nvPr/>
        </p:nvCxnSpPr>
        <p:spPr>
          <a:xfrm>
            <a:off x="1828800" y="7315200"/>
            <a:ext cx="10972800" cy="0"/>
          </a:xfrm>
          <a:prstGeom prst="line">
            <a:avLst/>
          </a:prstGeom>
          <a:ln w="25400">
            <a:solidFill>
              <a:srgbClr val="C4A48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2743200"/>
            <a:ext cx="10972800" cy="1828800"/>
          </a:xfrm>
          <a:prstGeom prst="rect">
            <a:avLst/>
          </a:prstGeom>
          <a:noFill/>
        </p:spPr>
        <p:txBody>
          <a:bodyPr wrap="square">
            <a:spAutoFit/>
          </a:bodyPr>
          <a:lstStyle/>
          <a:p>
            <a:pPr algn="ctr">
              <a:defRPr sz="8000" i="0" b="1">
                <a:solidFill>
                  <a:srgbClr val="FFFFFF"/>
                </a:solidFill>
                <a:latin typeface="Georgia"/>
              </a:defRPr>
            </a:pPr>
            <a:r>
              <a:t>Professional Drift</a:t>
            </a:r>
          </a:p>
        </p:txBody>
      </p:sp>
      <p:sp>
        <p:nvSpPr>
          <p:cNvPr id="4" name="TextBox 3"/>
          <p:cNvSpPr txBox="1"/>
          <p:nvPr/>
        </p:nvSpPr>
        <p:spPr>
          <a:xfrm>
            <a:off x="1828800" y="4572000"/>
            <a:ext cx="10972800" cy="914400"/>
          </a:xfrm>
          <a:prstGeom prst="rect">
            <a:avLst/>
          </a:prstGeom>
          <a:noFill/>
        </p:spPr>
        <p:txBody>
          <a:bodyPr wrap="square">
            <a:spAutoFit/>
          </a:bodyPr>
          <a:lstStyle/>
          <a:p>
            <a:pPr algn="ctr">
              <a:defRPr sz="3600" i="1" b="0">
                <a:solidFill>
                  <a:srgbClr val="C4A484"/>
                </a:solidFill>
                <a:latin typeface="Georgia"/>
              </a:defRPr>
            </a:pPr>
            <a:r>
              <a:t>How Good People Lose Their 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cxnSp>
        <p:nvCxnSpPr>
          <p:cNvPr id="2" name="Connector 1"/>
          <p:cNvCxnSpPr/>
          <p:nvPr/>
        </p:nvCxnSpPr>
        <p:spPr>
          <a:xfrm>
            <a:off x="1828800" y="7315200"/>
            <a:ext cx="10972800" cy="0"/>
          </a:xfrm>
          <a:prstGeom prst="line">
            <a:avLst/>
          </a:prstGeom>
          <a:ln w="25400">
            <a:solidFill>
              <a:srgbClr val="C4A48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3657600"/>
            <a:ext cx="10972800" cy="1371600"/>
          </a:xfrm>
          <a:prstGeom prst="rect">
            <a:avLst/>
          </a:prstGeom>
          <a:noFill/>
        </p:spPr>
        <p:txBody>
          <a:bodyPr wrap="square">
            <a:spAutoFit/>
          </a:bodyPr>
          <a:lstStyle/>
          <a:p>
            <a:pPr algn="ctr">
              <a:defRPr sz="5600" i="0" b="1">
                <a:solidFill>
                  <a:srgbClr val="FFFFFF"/>
                </a:solidFill>
                <a:latin typeface="Arial"/>
              </a:defRPr>
            </a:pPr>
            <a:r>
              <a:t>The Day Nobody Meant To Fail</a:t>
            </a:r>
          </a:p>
        </p:txBody>
      </p:sp>
      <p:sp>
        <p:nvSpPr>
          <p:cNvPr id="4" name="TextBox 3"/>
          <p:cNvSpPr txBox="1"/>
          <p:nvPr/>
        </p:nvSpPr>
        <p:spPr>
          <a:xfrm>
            <a:off x="1828800" y="5029200"/>
            <a:ext cx="10972800" cy="1371600"/>
          </a:xfrm>
          <a:prstGeom prst="rect">
            <a:avLst/>
          </a:prstGeom>
          <a:noFill/>
        </p:spPr>
        <p:txBody>
          <a:bodyPr wrap="square">
            <a:spAutoFit/>
          </a:bodyPr>
          <a:lstStyle/>
          <a:p>
            <a:pPr algn="ctr">
              <a:defRPr sz="3200" i="1" b="0">
                <a:solidFill>
                  <a:srgbClr val="C4A484"/>
                </a:solidFill>
                <a:latin typeface="Georgia"/>
              </a:defRPr>
            </a:pPr>
            <a:r>
              <a:t>April 14, 1994. 26 Lives. 0 Intentional Mistakes.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cxnSp>
        <p:nvCxnSpPr>
          <p:cNvPr id="2" name="Connector 1"/>
          <p:cNvCxnSpPr/>
          <p:nvPr/>
        </p:nvCxnSpPr>
        <p:spPr>
          <a:xfrm>
            <a:off x="1828800" y="7315200"/>
            <a:ext cx="10972800" cy="0"/>
          </a:xfrm>
          <a:prstGeom prst="line">
            <a:avLst/>
          </a:prstGeom>
          <a:ln w="25400">
            <a:solidFill>
              <a:srgbClr val="C4A48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3200400"/>
            <a:ext cx="10972800" cy="2286000"/>
          </a:xfrm>
          <a:prstGeom prst="rect">
            <a:avLst/>
          </a:prstGeom>
          <a:noFill/>
        </p:spPr>
        <p:txBody>
          <a:bodyPr wrap="square">
            <a:spAutoFit/>
          </a:bodyPr>
          <a:lstStyle/>
          <a:p>
            <a:pPr algn="ctr">
              <a:defRPr sz="4400" i="1" b="0">
                <a:solidFill>
                  <a:srgbClr val="FFFFFF"/>
                </a:solidFill>
                <a:latin typeface="Georgia"/>
              </a:defRPr>
            </a:pPr>
            <a:r>
              <a:t>“Practical Drift is the slow, steady uncoupling of local practice from written procedure.”</a:t>
            </a:r>
          </a:p>
        </p:txBody>
      </p:sp>
      <p:sp>
        <p:nvSpPr>
          <p:cNvPr id="4" name="TextBox 3"/>
          <p:cNvSpPr txBox="1"/>
          <p:nvPr/>
        </p:nvSpPr>
        <p:spPr>
          <a:xfrm>
            <a:off x="1828800" y="5943600"/>
            <a:ext cx="10972800" cy="914400"/>
          </a:xfrm>
          <a:prstGeom prst="rect">
            <a:avLst/>
          </a:prstGeom>
          <a:noFill/>
        </p:spPr>
        <p:txBody>
          <a:bodyPr wrap="square">
            <a:spAutoFit/>
          </a:bodyPr>
          <a:lstStyle/>
          <a:p>
            <a:pPr algn="ctr">
              <a:defRPr sz="2400" i="0" b="0">
                <a:solidFill>
                  <a:srgbClr val="C4A484"/>
                </a:solidFill>
                <a:latin typeface="Arial"/>
              </a:defRPr>
            </a:pPr>
            <a:r>
              <a:t>— Scott A. Snook, Friendly Fire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cxnSp>
        <p:nvCxnSpPr>
          <p:cNvPr id="2" name="Connector 1"/>
          <p:cNvCxnSpPr/>
          <p:nvPr/>
        </p:nvCxnSpPr>
        <p:spPr>
          <a:xfrm>
            <a:off x="1828800" y="7315200"/>
            <a:ext cx="10972800" cy="0"/>
          </a:xfrm>
          <a:prstGeom prst="line">
            <a:avLst/>
          </a:prstGeom>
          <a:ln w="25400">
            <a:solidFill>
              <a:srgbClr val="C4A48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2743200"/>
            <a:ext cx="10972800" cy="1828800"/>
          </a:xfrm>
          <a:prstGeom prst="rect">
            <a:avLst/>
          </a:prstGeom>
          <a:noFill/>
        </p:spPr>
        <p:txBody>
          <a:bodyPr wrap="square">
            <a:spAutoFit/>
          </a:bodyPr>
          <a:lstStyle/>
          <a:p>
            <a:pPr algn="ctr">
              <a:defRPr sz="5600" i="0" b="1">
                <a:solidFill>
                  <a:srgbClr val="C4A484"/>
                </a:solidFill>
                <a:latin typeface="Georgia"/>
              </a:defRPr>
            </a:pPr>
            <a:r>
              <a:t>The Quiet Line He Never Saw</a:t>
            </a:r>
          </a:p>
        </p:txBody>
      </p:sp>
      <p:sp>
        <p:nvSpPr>
          <p:cNvPr id="4" name="TextBox 3"/>
          <p:cNvSpPr txBox="1"/>
          <p:nvPr/>
        </p:nvSpPr>
        <p:spPr>
          <a:xfrm>
            <a:off x="1828800" y="4572000"/>
            <a:ext cx="10972800" cy="914400"/>
          </a:xfrm>
          <a:prstGeom prst="rect">
            <a:avLst/>
          </a:prstGeom>
          <a:noFill/>
        </p:spPr>
        <p:txBody>
          <a:bodyPr wrap="square">
            <a:spAutoFit/>
          </a:bodyPr>
          <a:lstStyle/>
          <a:p>
            <a:pPr algn="ctr">
              <a:defRPr sz="3600" i="1" b="0">
                <a:solidFill>
                  <a:srgbClr val="FFFFFF"/>
                </a:solidFill>
                <a:latin typeface="Georgia"/>
              </a:defRPr>
            </a:pPr>
            <a:r>
              <a:t>The line did not arrive as a warning. </a:t>
            </a:r>
            <a:br/>
            <a:r>
              <a:t>It arrived as routine.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cxnSp>
        <p:nvCxnSpPr>
          <p:cNvPr id="2" name="Connector 1"/>
          <p:cNvCxnSpPr/>
          <p:nvPr/>
        </p:nvCxnSpPr>
        <p:spPr>
          <a:xfrm>
            <a:off x="1828800" y="7315200"/>
            <a:ext cx="10972800" cy="0"/>
          </a:xfrm>
          <a:prstGeom prst="line">
            <a:avLst/>
          </a:prstGeom>
          <a:ln w="25400">
            <a:solidFill>
              <a:srgbClr val="C4A48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2743200"/>
            <a:ext cx="10972800" cy="1828800"/>
          </a:xfrm>
          <a:prstGeom prst="rect">
            <a:avLst/>
          </a:prstGeom>
          <a:noFill/>
        </p:spPr>
        <p:txBody>
          <a:bodyPr wrap="square">
            <a:spAutoFit/>
          </a:bodyPr>
          <a:lstStyle/>
          <a:p>
            <a:pPr algn="ctr">
              <a:defRPr sz="6400" i="1" b="0">
                <a:solidFill>
                  <a:srgbClr val="FFFFFF"/>
                </a:solidFill>
                <a:latin typeface="Georgia"/>
              </a:defRPr>
            </a:pPr>
            <a:r>
              <a:t>Drift Is Not a Detour.</a:t>
            </a:r>
          </a:p>
        </p:txBody>
      </p:sp>
      <p:sp>
        <p:nvSpPr>
          <p:cNvPr id="4" name="TextBox 3"/>
          <p:cNvSpPr txBox="1"/>
          <p:nvPr/>
        </p:nvSpPr>
        <p:spPr>
          <a:xfrm>
            <a:off x="1828800" y="4114800"/>
            <a:ext cx="10972800" cy="1828800"/>
          </a:xfrm>
          <a:prstGeom prst="rect">
            <a:avLst/>
          </a:prstGeom>
          <a:noFill/>
        </p:spPr>
        <p:txBody>
          <a:bodyPr wrap="square">
            <a:spAutoFit/>
          </a:bodyPr>
          <a:lstStyle/>
          <a:p>
            <a:pPr algn="ctr">
              <a:defRPr sz="6400" i="1" b="0">
                <a:solidFill>
                  <a:srgbClr val="C4A484"/>
                </a:solidFill>
                <a:latin typeface="Georgia"/>
              </a:defRPr>
            </a:pPr>
            <a:r>
              <a:t>It’s a Direction.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cxnSp>
        <p:nvCxnSpPr>
          <p:cNvPr id="2" name="Connector 1"/>
          <p:cNvCxnSpPr/>
          <p:nvPr/>
        </p:nvCxnSpPr>
        <p:spPr>
          <a:xfrm>
            <a:off x="1828800" y="7315200"/>
            <a:ext cx="10972800" cy="0"/>
          </a:xfrm>
          <a:prstGeom prst="line">
            <a:avLst/>
          </a:prstGeom>
          <a:ln w="25400">
            <a:solidFill>
              <a:srgbClr val="C4A48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14400" y="1371600"/>
            <a:ext cx="12801600" cy="1371600"/>
          </a:xfrm>
          <a:prstGeom prst="rect">
            <a:avLst/>
          </a:prstGeom>
          <a:noFill/>
        </p:spPr>
        <p:txBody>
          <a:bodyPr wrap="square">
            <a:spAutoFit/>
          </a:bodyPr>
          <a:lstStyle/>
          <a:p>
            <a:pPr algn="ctr">
              <a:defRPr sz="4800" i="0" b="1">
                <a:solidFill>
                  <a:srgbClr val="C4A484"/>
                </a:solidFill>
                <a:latin typeface="Georgia"/>
              </a:defRPr>
            </a:pPr>
            <a:r>
              <a:t>The Taxonomy of Drift</a:t>
            </a:r>
          </a:p>
        </p:txBody>
      </p:sp>
      <p:sp>
        <p:nvSpPr>
          <p:cNvPr id="4" name="TextBox 3"/>
          <p:cNvSpPr txBox="1"/>
          <p:nvPr/>
        </p:nvSpPr>
        <p:spPr>
          <a:xfrm>
            <a:off x="914400" y="3200400"/>
            <a:ext cx="4114800" cy="3657600"/>
          </a:xfrm>
          <a:prstGeom prst="rect">
            <a:avLst/>
          </a:prstGeom>
          <a:noFill/>
        </p:spPr>
        <p:txBody>
          <a:bodyPr wrap="square">
            <a:spAutoFit/>
          </a:bodyPr>
          <a:lstStyle/>
          <a:p>
            <a:pPr algn="ctr">
              <a:defRPr sz="3600" i="0" b="1">
                <a:solidFill>
                  <a:srgbClr val="C4A484"/>
                </a:solidFill>
                <a:latin typeface="Georgia"/>
              </a:defRPr>
            </a:pPr>
            <a:r>
              <a:t>Reactive Drift</a:t>
            </a:r>
          </a:p>
          <a:p>
            <a:br/>
            <a:pPr algn="ctr">
              <a:defRPr sz="2400" i="0" b="0">
                <a:solidFill>
                  <a:srgbClr val="FFFFFF"/>
                </a:solidFill>
                <a:latin typeface="Georgia"/>
              </a:defRPr>
            </a:pPr>
            <a:r>
              <a:t>When you stop driving and start responding. </a:t>
            </a:r>
            <a:br/>
            <a:r>
              <a:t>(Hyatt &amp; Harkavy)</a:t>
            </a:r>
          </a:p>
        </p:txBody>
      </p:sp>
      <p:sp>
        <p:nvSpPr>
          <p:cNvPr id="5" name="TextBox 4"/>
          <p:cNvSpPr txBox="1"/>
          <p:nvPr/>
        </p:nvSpPr>
        <p:spPr>
          <a:xfrm>
            <a:off x="5029200" y="3200400"/>
            <a:ext cx="4572000" cy="3657600"/>
          </a:xfrm>
          <a:prstGeom prst="rect">
            <a:avLst/>
          </a:prstGeom>
          <a:noFill/>
        </p:spPr>
        <p:txBody>
          <a:bodyPr wrap="square">
            <a:spAutoFit/>
          </a:bodyPr>
          <a:lstStyle/>
          <a:p>
            <a:pPr algn="ctr">
              <a:defRPr sz="3600" i="0" b="1">
                <a:solidFill>
                  <a:srgbClr val="C4A484"/>
                </a:solidFill>
                <a:latin typeface="Georgia"/>
              </a:defRPr>
            </a:pPr>
            <a:r>
              <a:t>Success Trap</a:t>
            </a:r>
          </a:p>
          <a:p>
            <a:br/>
            <a:pPr algn="ctr">
              <a:defRPr sz="2400" i="0" b="0">
                <a:solidFill>
                  <a:srgbClr val="FFFFFF"/>
                </a:solidFill>
                <a:latin typeface="Georgia"/>
              </a:defRPr>
            </a:pPr>
            <a:r>
              <a:t>The applause gets louder the further you walk from yourself.</a:t>
            </a:r>
            <a:br/>
            <a:r>
              <a:t>(Junko Okada)</a:t>
            </a:r>
          </a:p>
        </p:txBody>
      </p:sp>
      <p:sp>
        <p:nvSpPr>
          <p:cNvPr id="6" name="TextBox 5"/>
          <p:cNvSpPr txBox="1"/>
          <p:nvPr/>
        </p:nvSpPr>
        <p:spPr>
          <a:xfrm>
            <a:off x="9601200" y="3200400"/>
            <a:ext cx="4114800" cy="3657600"/>
          </a:xfrm>
          <a:prstGeom prst="rect">
            <a:avLst/>
          </a:prstGeom>
          <a:noFill/>
        </p:spPr>
        <p:txBody>
          <a:bodyPr wrap="square">
            <a:spAutoFit/>
          </a:bodyPr>
          <a:lstStyle/>
          <a:p>
            <a:pPr algn="ctr">
              <a:defRPr sz="3600" i="0" b="1">
                <a:solidFill>
                  <a:srgbClr val="C4A484"/>
                </a:solidFill>
                <a:latin typeface="Georgia"/>
              </a:defRPr>
            </a:pPr>
            <a:r>
              <a:t>Systemic Drift</a:t>
            </a:r>
          </a:p>
          <a:p>
            <a:br/>
            <a:pPr algn="ctr">
              <a:defRPr sz="2400" i="0" b="0">
                <a:solidFill>
                  <a:srgbClr val="FFFFFF"/>
                </a:solidFill>
                <a:latin typeface="Georgia"/>
              </a:defRPr>
            </a:pPr>
            <a:r>
              <a:t>Your environment changes; your identity doesn’t update.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cxnSp>
        <p:nvCxnSpPr>
          <p:cNvPr id="2" name="Connector 1"/>
          <p:cNvCxnSpPr/>
          <p:nvPr/>
        </p:nvCxnSpPr>
        <p:spPr>
          <a:xfrm>
            <a:off x="1828800" y="7315200"/>
            <a:ext cx="10972800" cy="0"/>
          </a:xfrm>
          <a:prstGeom prst="line">
            <a:avLst/>
          </a:prstGeom>
          <a:ln w="25400">
            <a:solidFill>
              <a:srgbClr val="C4A48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3200400"/>
            <a:ext cx="10972800" cy="2743200"/>
          </a:xfrm>
          <a:prstGeom prst="rect">
            <a:avLst/>
          </a:prstGeom>
          <a:noFill/>
        </p:spPr>
        <p:txBody>
          <a:bodyPr wrap="square">
            <a:spAutoFit/>
          </a:bodyPr>
          <a:lstStyle/>
          <a:p>
            <a:pPr algn="ctr">
              <a:defRPr sz="4800" i="1" b="0">
                <a:solidFill>
                  <a:srgbClr val="FFFFFF"/>
                </a:solidFill>
                <a:latin typeface="Georgia"/>
              </a:defRPr>
            </a:pPr>
            <a:r>
              <a:t>Raise your hand if you’ve had the most productive week of your career—and still felt like something was wrong.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CF8"/>
        </a:solidFill>
        <a:effectLst/>
      </p:bgPr>
    </p:bg>
    <p:spTree>
      <p:nvGrpSpPr>
        <p:cNvPr id="1" name=""/>
        <p:cNvGrpSpPr/>
        <p:nvPr/>
      </p:nvGrpSpPr>
      <p:grpSpPr/>
      <p:cxnSp>
        <p:nvCxnSpPr>
          <p:cNvPr id="2" name="Connector 1"/>
          <p:cNvCxnSpPr/>
          <p:nvPr/>
        </p:nvCxnSpPr>
        <p:spPr>
          <a:xfrm>
            <a:off x="1828800" y="914400"/>
            <a:ext cx="10972800" cy="0"/>
          </a:xfrm>
          <a:prstGeom prst="line">
            <a:avLst/>
          </a:prstGeom>
          <a:ln w="50800">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1371600"/>
            <a:ext cx="10972800" cy="1371600"/>
          </a:xfrm>
          <a:prstGeom prst="rect">
            <a:avLst/>
          </a:prstGeom>
          <a:noFill/>
        </p:spPr>
        <p:txBody>
          <a:bodyPr wrap="square">
            <a:spAutoFit/>
          </a:bodyPr>
          <a:lstStyle/>
          <a:p>
            <a:pPr algn="ctr">
              <a:defRPr sz="4800" i="0" b="1">
                <a:solidFill>
                  <a:srgbClr val="1A1A1A"/>
                </a:solidFill>
                <a:latin typeface="Georgia"/>
              </a:defRPr>
            </a:pPr>
            <a:r>
              <a:t>You Can’t Correct What You Can’t Name</a:t>
            </a:r>
          </a:p>
        </p:txBody>
      </p:sp>
      <p:sp>
        <p:nvSpPr>
          <p:cNvPr id="4" name="TextBox 3"/>
          <p:cNvSpPr txBox="1"/>
          <p:nvPr/>
        </p:nvSpPr>
        <p:spPr>
          <a:xfrm>
            <a:off x="1828800" y="2743200"/>
            <a:ext cx="10972800" cy="4572000"/>
          </a:xfrm>
          <a:prstGeom prst="rect">
            <a:avLst/>
          </a:prstGeom>
          <a:noFill/>
        </p:spPr>
        <p:txBody>
          <a:bodyPr wrap="square">
            <a:spAutoFit/>
          </a:bodyPr>
          <a:lstStyle/>
          <a:p>
            <a:pPr algn="l">
              <a:defRPr sz="2800" i="0" b="0">
                <a:solidFill>
                  <a:srgbClr val="1A1A1A"/>
                </a:solidFill>
                <a:latin typeface="Arial"/>
              </a:defRPr>
            </a:pPr>
            <a:r>
              <a:t>1. The Shrinking Why - You can't explain why you're doing what you're doing anymore.</a:t>
            </a:r>
            <a:br/>
            <a:br/>
            <a:r>
              <a:t>2. The Expertise Plateau - You haven't learned something genuinely new in 6+ months.</a:t>
            </a:r>
            <a:br/>
            <a:br/>
            <a:r>
              <a:t>3. The Validation Loop - External success has replaced internal purpose.</a:t>
            </a:r>
            <a:br/>
            <a:br/>
            <a:r>
              <a:t>4. The Reactive Calendar - You serve others' priorities exclusively.</a:t>
            </a:r>
            <a:br/>
            <a:br/>
            <a:r>
              <a:t>5. The Identity Gap - Who you are at work no longer matches who you believe you 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CF8"/>
        </a:solidFill>
        <a:effectLst/>
      </p:bgPr>
    </p:bg>
    <p:spTree>
      <p:nvGrpSpPr>
        <p:cNvPr id="1" name=""/>
        <p:cNvGrpSpPr/>
        <p:nvPr/>
      </p:nvGrpSpPr>
      <p:grpSpPr/>
      <p:cxnSp>
        <p:nvCxnSpPr>
          <p:cNvPr id="2" name="Connector 1"/>
          <p:cNvCxnSpPr/>
          <p:nvPr/>
        </p:nvCxnSpPr>
        <p:spPr>
          <a:xfrm>
            <a:off x="1828800" y="914400"/>
            <a:ext cx="10972800" cy="0"/>
          </a:xfrm>
          <a:prstGeom prst="line">
            <a:avLst/>
          </a:prstGeom>
          <a:ln w="50800">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2286000"/>
            <a:ext cx="10972800" cy="5486400"/>
          </a:xfrm>
          <a:prstGeom prst="rect">
            <a:avLst/>
          </a:prstGeom>
          <a:noFill/>
        </p:spPr>
        <p:txBody>
          <a:bodyPr wrap="square">
            <a:spAutoFit/>
          </a:bodyPr>
          <a:lstStyle/>
          <a:p>
            <a:pPr algn="ctr">
              <a:defRPr sz="3600" i="1" b="0">
                <a:solidFill>
                  <a:srgbClr val="1A1A1A"/>
                </a:solidFill>
                <a:latin typeface="Georgia"/>
              </a:defRPr>
            </a:pPr>
            <a:r>
              <a:t>“He is the file now. The reduction he had always resisted in others has arrived for him, clinical and complete...”</a:t>
            </a:r>
            <a:br/>
            <a:br/>
            <a:r>
              <a:t>“This is the Identity Gap: the quiet, terrifying distance between the man who leads and the man being breathed for by a machine.”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CF8"/>
        </a:solidFill>
        <a:effectLst/>
      </p:bgPr>
    </p:bg>
    <p:spTree>
      <p:nvGrpSpPr>
        <p:cNvPr id="1" name=""/>
        <p:cNvGrpSpPr/>
        <p:nvPr/>
      </p:nvGrpSpPr>
      <p:grpSpPr/>
      <p:cxnSp>
        <p:nvCxnSpPr>
          <p:cNvPr id="2" name="Connector 1"/>
          <p:cNvCxnSpPr/>
          <p:nvPr/>
        </p:nvCxnSpPr>
        <p:spPr>
          <a:xfrm>
            <a:off x="1828800" y="914400"/>
            <a:ext cx="10972800" cy="0"/>
          </a:xfrm>
          <a:prstGeom prst="line">
            <a:avLst/>
          </a:prstGeom>
          <a:ln w="50800">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2286000"/>
            <a:ext cx="10972800" cy="3657600"/>
          </a:xfrm>
          <a:prstGeom prst="rect">
            <a:avLst/>
          </a:prstGeom>
          <a:noFill/>
        </p:spPr>
        <p:txBody>
          <a:bodyPr wrap="square">
            <a:spAutoFit/>
          </a:bodyPr>
          <a:lstStyle/>
          <a:p>
            <a:pPr algn="ctr">
              <a:defRPr sz="5600" i="0" b="1">
                <a:solidFill>
                  <a:srgbClr val="1A1A1A"/>
                </a:solidFill>
                <a:latin typeface="Georgia"/>
              </a:defRPr>
            </a:pPr>
            <a:r>
              <a:t>Are you on a Bridge or a Detour?</a:t>
            </a:r>
          </a:p>
          <a:p>
            <a:br/>
            <a:br/>
            <a:pPr algn="ctr">
              <a:defRPr sz="3200" i="1" b="0">
                <a:solidFill>
                  <a:srgbClr val="1A1A1A"/>
                </a:solidFill>
                <a:latin typeface="Georgia"/>
              </a:defRPr>
            </a:pPr>
            <a:r>
              <a:t>A Bridge takes you somewhere new.</a:t>
            </a:r>
            <a:br/>
            <a:r>
              <a:t>A Detour feels like progress but loops you back to where you started.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CF8"/>
        </a:solidFill>
        <a:effectLst/>
      </p:bgPr>
    </p:bg>
    <p:spTree>
      <p:nvGrpSpPr>
        <p:cNvPr id="1" name=""/>
        <p:cNvGrpSpPr/>
        <p:nvPr/>
      </p:nvGrpSpPr>
      <p:grpSpPr/>
      <p:cxnSp>
        <p:nvCxnSpPr>
          <p:cNvPr id="2" name="Connector 1"/>
          <p:cNvCxnSpPr/>
          <p:nvPr/>
        </p:nvCxnSpPr>
        <p:spPr>
          <a:xfrm>
            <a:off x="1828800" y="914400"/>
            <a:ext cx="10972800" cy="0"/>
          </a:xfrm>
          <a:prstGeom prst="line">
            <a:avLst/>
          </a:prstGeom>
          <a:ln w="50800">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2743200"/>
            <a:ext cx="10972800" cy="1828800"/>
          </a:xfrm>
          <a:prstGeom prst="rect">
            <a:avLst/>
          </a:prstGeom>
          <a:noFill/>
        </p:spPr>
        <p:txBody>
          <a:bodyPr wrap="square">
            <a:spAutoFit/>
          </a:bodyPr>
          <a:lstStyle/>
          <a:p>
            <a:pPr algn="ctr">
              <a:defRPr sz="6400" i="0" b="1">
                <a:solidFill>
                  <a:srgbClr val="1A1A1A"/>
                </a:solidFill>
                <a:latin typeface="Georgia"/>
              </a:defRPr>
            </a:pPr>
            <a:r>
              <a:t>Drift Is Not Your Destiny.</a:t>
            </a:r>
          </a:p>
        </p:txBody>
      </p:sp>
      <p:sp>
        <p:nvSpPr>
          <p:cNvPr id="4" name="TextBox 3"/>
          <p:cNvSpPr txBox="1"/>
          <p:nvPr/>
        </p:nvSpPr>
        <p:spPr>
          <a:xfrm>
            <a:off x="1828800" y="4572000"/>
            <a:ext cx="10972800" cy="1828800"/>
          </a:xfrm>
          <a:prstGeom prst="rect">
            <a:avLst/>
          </a:prstGeom>
          <a:noFill/>
        </p:spPr>
        <p:txBody>
          <a:bodyPr wrap="square">
            <a:spAutoFit/>
          </a:bodyPr>
          <a:lstStyle/>
          <a:p>
            <a:pPr algn="ctr">
              <a:defRPr sz="6400" i="1" b="0">
                <a:solidFill>
                  <a:srgbClr val="1A1A1A"/>
                </a:solidFill>
                <a:latin typeface="Georgia"/>
              </a:defRPr>
            </a:pPr>
            <a:r>
              <a:t>It is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CF8"/>
        </a:solidFill>
        <a:effectLst/>
      </p:bgPr>
    </p:bg>
    <p:spTree>
      <p:nvGrpSpPr>
        <p:cNvPr id="1" name=""/>
        <p:cNvGrpSpPr/>
        <p:nvPr/>
      </p:nvGrpSpPr>
      <p:grpSpPr/>
      <p:cxnSp>
        <p:nvCxnSpPr>
          <p:cNvPr id="2" name="Connector 1"/>
          <p:cNvCxnSpPr/>
          <p:nvPr/>
        </p:nvCxnSpPr>
        <p:spPr>
          <a:xfrm>
            <a:off x="1828800" y="914400"/>
            <a:ext cx="10972800" cy="0"/>
          </a:xfrm>
          <a:prstGeom prst="line">
            <a:avLst/>
          </a:prstGeom>
          <a:ln w="50800">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3200400"/>
            <a:ext cx="10972800" cy="2743200"/>
          </a:xfrm>
          <a:prstGeom prst="rect">
            <a:avLst/>
          </a:prstGeom>
          <a:noFill/>
        </p:spPr>
        <p:txBody>
          <a:bodyPr wrap="square">
            <a:spAutoFit/>
          </a:bodyPr>
          <a:lstStyle/>
          <a:p>
            <a:pPr algn="ctr">
              <a:defRPr sz="5600" i="0" b="1">
                <a:solidFill>
                  <a:srgbClr val="1A1A1A"/>
                </a:solidFill>
                <a:latin typeface="Georgia"/>
              </a:defRPr>
            </a:pPr>
            <a:r>
              <a:t>The Values Compass</a:t>
            </a:r>
          </a:p>
          <a:p>
            <a:br/>
            <a:pPr algn="ctr">
              <a:defRPr sz="3600" i="1" b="0">
                <a:solidFill>
                  <a:srgbClr val="1A1A1A"/>
                </a:solidFill>
                <a:latin typeface="Georgia"/>
              </a:defRPr>
            </a:pPr>
            <a:r>
              <a:t>Rigid long-term goal-setting breaks when terrain changes. A compass gives you direction, not destination.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CF8"/>
        </a:solidFill>
        <a:effectLst/>
      </p:bgPr>
    </p:bg>
    <p:spTree>
      <p:nvGrpSpPr>
        <p:cNvPr id="1" name=""/>
        <p:cNvGrpSpPr/>
        <p:nvPr/>
      </p:nvGrpSpPr>
      <p:grpSpPr/>
      <p:cxnSp>
        <p:nvCxnSpPr>
          <p:cNvPr id="2" name="Connector 1"/>
          <p:cNvCxnSpPr/>
          <p:nvPr/>
        </p:nvCxnSpPr>
        <p:spPr>
          <a:xfrm>
            <a:off x="1828800" y="914400"/>
            <a:ext cx="10972800" cy="0"/>
          </a:xfrm>
          <a:prstGeom prst="line">
            <a:avLst/>
          </a:prstGeom>
          <a:ln w="50800">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3200400"/>
            <a:ext cx="10972800" cy="2743200"/>
          </a:xfrm>
          <a:prstGeom prst="rect">
            <a:avLst/>
          </a:prstGeom>
          <a:noFill/>
        </p:spPr>
        <p:txBody>
          <a:bodyPr wrap="square">
            <a:spAutoFit/>
          </a:bodyPr>
          <a:lstStyle/>
          <a:p>
            <a:pPr algn="ctr">
              <a:defRPr sz="5200" i="1" b="0">
                <a:solidFill>
                  <a:srgbClr val="1A1A1A"/>
                </a:solidFill>
                <a:latin typeface="Georgia"/>
              </a:defRPr>
            </a:pPr>
            <a:r>
              <a:t>Treat your career like a prototype, not a contract.</a:t>
            </a:r>
          </a:p>
          <a:p>
            <a:br/>
            <a:pPr algn="ctr">
              <a:defRPr sz="3600" i="0" b="0">
                <a:solidFill>
                  <a:srgbClr val="1A1A1A"/>
                </a:solidFill>
                <a:latin typeface="Georgia"/>
              </a:defRPr>
            </a:pPr>
            <a:r>
              <a:t>You are allowed to iterate. Iteration is not failure.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CF8"/>
        </a:solidFill>
        <a:effectLst/>
      </p:bgPr>
    </p:bg>
    <p:spTree>
      <p:nvGrpSpPr>
        <p:cNvPr id="1" name=""/>
        <p:cNvGrpSpPr/>
        <p:nvPr/>
      </p:nvGrpSpPr>
      <p:grpSpPr/>
      <p:cxnSp>
        <p:nvCxnSpPr>
          <p:cNvPr id="2" name="Connector 1"/>
          <p:cNvCxnSpPr/>
          <p:nvPr/>
        </p:nvCxnSpPr>
        <p:spPr>
          <a:xfrm>
            <a:off x="1828800" y="914400"/>
            <a:ext cx="10972800" cy="0"/>
          </a:xfrm>
          <a:prstGeom prst="line">
            <a:avLst/>
          </a:prstGeom>
          <a:ln w="50800">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1371600"/>
            <a:ext cx="10972800" cy="1371600"/>
          </a:xfrm>
          <a:prstGeom prst="rect">
            <a:avLst/>
          </a:prstGeom>
          <a:noFill/>
        </p:spPr>
        <p:txBody>
          <a:bodyPr wrap="square">
            <a:spAutoFit/>
          </a:bodyPr>
          <a:lstStyle/>
          <a:p>
            <a:pPr algn="ctr">
              <a:defRPr sz="4800" i="0" b="1">
                <a:solidFill>
                  <a:srgbClr val="1A1A1A"/>
                </a:solidFill>
                <a:latin typeface="Georgia"/>
              </a:defRPr>
            </a:pPr>
            <a:r>
              <a:t>In which domain has the drift been the loudest?</a:t>
            </a:r>
          </a:p>
        </p:txBody>
      </p:sp>
      <p:sp>
        <p:nvSpPr>
          <p:cNvPr id="4" name="TextBox 3"/>
          <p:cNvSpPr txBox="1"/>
          <p:nvPr/>
        </p:nvSpPr>
        <p:spPr>
          <a:xfrm>
            <a:off x="1828800" y="3200400"/>
            <a:ext cx="10972800" cy="3657600"/>
          </a:xfrm>
          <a:prstGeom prst="rect">
            <a:avLst/>
          </a:prstGeom>
          <a:noFill/>
        </p:spPr>
        <p:txBody>
          <a:bodyPr wrap="square">
            <a:spAutoFit/>
          </a:bodyPr>
          <a:lstStyle/>
          <a:p>
            <a:pPr algn="ctr">
              <a:defRPr sz="3200" i="0" b="0">
                <a:solidFill>
                  <a:srgbClr val="1A1A1A"/>
                </a:solidFill>
                <a:latin typeface="Arial"/>
              </a:defRPr>
            </a:pPr>
            <a:r>
              <a:t>1. Career        2. Relationships        3. Health</a:t>
            </a:r>
            <a:br/>
            <a:br/>
            <a:r>
              <a:t>4. Finances        5. Personal Development</a:t>
            </a:r>
            <a:br/>
            <a:br/>
            <a:r>
              <a:t>6. Spirituality        7. Recreation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CF8"/>
        </a:solidFill>
        <a:effectLst/>
      </p:bgPr>
    </p:bg>
    <p:spTree>
      <p:nvGrpSpPr>
        <p:cNvPr id="1" name=""/>
        <p:cNvGrpSpPr/>
        <p:nvPr/>
      </p:nvGrpSpPr>
      <p:grpSpPr/>
      <p:cxnSp>
        <p:nvCxnSpPr>
          <p:cNvPr id="2" name="Connector 1"/>
          <p:cNvCxnSpPr/>
          <p:nvPr/>
        </p:nvCxnSpPr>
        <p:spPr>
          <a:xfrm>
            <a:off x="1828800" y="914400"/>
            <a:ext cx="10972800" cy="0"/>
          </a:xfrm>
          <a:prstGeom prst="line">
            <a:avLst/>
          </a:prstGeom>
          <a:ln w="50800">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828800" y="3200400"/>
            <a:ext cx="10972800" cy="2743200"/>
          </a:xfrm>
          <a:prstGeom prst="rect">
            <a:avLst/>
          </a:prstGeom>
          <a:noFill/>
        </p:spPr>
        <p:txBody>
          <a:bodyPr wrap="square">
            <a:spAutoFit/>
          </a:bodyPr>
          <a:lstStyle/>
          <a:p>
            <a:pPr algn="ctr">
              <a:defRPr sz="4800" i="1" b="0">
                <a:solidFill>
                  <a:srgbClr val="1A1A1A"/>
                </a:solidFill>
                <a:latin typeface="Georgia"/>
              </a:defRPr>
            </a:pPr>
            <a:r>
              <a:t>“Every single moment of drift had a preceding moment of awareness. A flicker. A hesitation.”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cxnSp>
        <p:nvCxnSpPr>
          <p:cNvPr id="2" name="Connector 1"/>
          <p:cNvCxnSpPr/>
          <p:nvPr/>
        </p:nvCxnSpPr>
        <p:spPr>
          <a:xfrm>
            <a:off x="1828800" y="7315200"/>
            <a:ext cx="10972800" cy="0"/>
          </a:xfrm>
          <a:prstGeom prst="line">
            <a:avLst/>
          </a:prstGeom>
          <a:ln w="25400">
            <a:solidFill>
              <a:srgbClr val="C4A48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14400" y="2286000"/>
            <a:ext cx="12801600" cy="4572000"/>
          </a:xfrm>
          <a:prstGeom prst="rect">
            <a:avLst/>
          </a:prstGeom>
          <a:noFill/>
        </p:spPr>
        <p:txBody>
          <a:bodyPr wrap="square">
            <a:spAutoFit/>
          </a:bodyPr>
          <a:lstStyle/>
          <a:p>
            <a:pPr algn="ctr">
              <a:defRPr sz="4400" i="1" b="0">
                <a:solidFill>
                  <a:srgbClr val="C4A484"/>
                </a:solidFill>
                <a:latin typeface="Georgia"/>
              </a:defRPr>
            </a:pPr>
            <a:r>
              <a:t>“The path does not disappear. It begins again the moment you decide to walk it. This is the manifesto of the flicker: that we are not defined by the drift, but by the quiet, disciplined return to the room.”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